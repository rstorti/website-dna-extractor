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226b74f4d84774" /><Relationship Type="http://schemas.openxmlformats.org/officeDocument/2006/relationships/extended-properties" Target="/docProps/app.xml" Id="R949617f00e7447a3" /><Relationship Type="http://schemas.openxmlformats.org/officeDocument/2006/relationships/officeDocument" Target="/ppt/presentation.xml" Id="R954daa95851c4b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ce582464a747f8"/>
  </p:sldMasterIdLst>
  <p:notesMasterIdLst>
    <p:notesMasterId xmlns:r="http://schemas.openxmlformats.org/officeDocument/2006/relationships" r:id="Rda9fe9dfe61a4ec3"/>
  </p:notesMasterIdLst>
  <p:sldIdLst>
    <p:sldId xmlns:r="http://schemas.openxmlformats.org/officeDocument/2006/relationships" id="256" r:id="R42b143904df14adf"/>
    <p:sldId xmlns:r="http://schemas.openxmlformats.org/officeDocument/2006/relationships" id="257" r:id="R22f634859bcd4543"/>
    <p:sldId xmlns:r="http://schemas.openxmlformats.org/officeDocument/2006/relationships" id="258" r:id="R179c5c1469834f6b"/>
    <p:sldId xmlns:r="http://schemas.openxmlformats.org/officeDocument/2006/relationships" id="259" r:id="R25aab2e1ea764fd5"/>
    <p:sldId xmlns:r="http://schemas.openxmlformats.org/officeDocument/2006/relationships" id="260" r:id="R3a9417e88b234f0d"/>
    <p:sldId xmlns:r="http://schemas.openxmlformats.org/officeDocument/2006/relationships" id="261" r:id="R06e8f782c0f74f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7b8d324fe9476c" /><Relationship Type="http://schemas.openxmlformats.org/officeDocument/2006/relationships/slideMaster" Target="/ppt/slideMasters/slideMaster1.xml" Id="R27ce582464a747f8" /><Relationship Type="http://schemas.openxmlformats.org/officeDocument/2006/relationships/notesMaster" Target="/ppt/notesMasters/notesMaster1.xml" Id="Rda9fe9dfe61a4ec3" /><Relationship Type="http://schemas.openxmlformats.org/officeDocument/2006/relationships/presProps" Target="/ppt/presProps.xml" Id="Rcf7fc17ec7a543a8" /><Relationship Type="http://schemas.openxmlformats.org/officeDocument/2006/relationships/tableStyles" Target="/ppt/tableStyles.xml" Id="R25cc8063134b466d" /><Relationship Type="http://schemas.openxmlformats.org/officeDocument/2006/relationships/slide" Target="/ppt/slides/slide1.xml" Id="R42b143904df14adf" /><Relationship Type="http://schemas.openxmlformats.org/officeDocument/2006/relationships/slide" Target="/ppt/slides/slide2.xml" Id="R22f634859bcd4543" /><Relationship Type="http://schemas.openxmlformats.org/officeDocument/2006/relationships/slide" Target="/ppt/slides/slide3.xml" Id="R179c5c1469834f6b" /><Relationship Type="http://schemas.openxmlformats.org/officeDocument/2006/relationships/slide" Target="/ppt/slides/slide4.xml" Id="R25aab2e1ea764fd5" /><Relationship Type="http://schemas.openxmlformats.org/officeDocument/2006/relationships/slide" Target="/ppt/slides/slide5.xml" Id="R3a9417e88b234f0d" /><Relationship Type="http://schemas.openxmlformats.org/officeDocument/2006/relationships/slide" Target="/ppt/slides/slide6.xml" Id="R06e8f782c0f74f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92e1f49c364b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bd46d771d94791" /><Relationship Type="http://schemas.openxmlformats.org/officeDocument/2006/relationships/notesMaster" Target="/ppt/notesMasters/notesMaster1.xml" Id="R75156deae74447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83ec66c2534a1f" /><Relationship Type="http://schemas.openxmlformats.org/officeDocument/2006/relationships/notesMaster" Target="/ppt/notesMasters/notesMaster1.xml" Id="R9581a2488c1c44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c0b5a8def14050" /><Relationship Type="http://schemas.openxmlformats.org/officeDocument/2006/relationships/notesMaster" Target="/ppt/notesMasters/notesMaster1.xml" Id="Rd774b35f98a544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7c1ca603944e76" /><Relationship Type="http://schemas.openxmlformats.org/officeDocument/2006/relationships/notesMaster" Target="/ppt/notesMasters/notesMaster1.xml" Id="R7814e2b50d6143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3e721db0124b08" /><Relationship Type="http://schemas.openxmlformats.org/officeDocument/2006/relationships/notesMaster" Target="/ppt/notesMasters/notesMaster1.xml" Id="R6cbd25fedc7e436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bd73d6a13a4ef1" /><Relationship Type="http://schemas.openxmlformats.org/officeDocument/2006/relationships/notesMaster" Target="/ppt/notesMasters/notesMaster1.xml" Id="R1567b9e15dcf45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2de4c688a240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341339b4f0439d" /><Relationship Type="http://schemas.openxmlformats.org/officeDocument/2006/relationships/slideLayout" Target="/ppt/slideLayouts/slideLayout1.xml" Id="Rd45600d1965741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5600d1965741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b224e93e054143" /><Relationship Type="http://schemas.openxmlformats.org/officeDocument/2006/relationships/notesSlide" Target="/ppt/notesSlides/notesSlide1.xml" Id="R4f25d3f23d6f4a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03b3bbfa3d4e6b" /><Relationship Type="http://schemas.openxmlformats.org/officeDocument/2006/relationships/notesSlide" Target="/ppt/notesSlides/notesSlide2.xml" Id="R4454a4c31cfe49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d4af23b2346c3" /><Relationship Type="http://schemas.openxmlformats.org/officeDocument/2006/relationships/notesSlide" Target="/ppt/notesSlides/notesSlide3.xml" Id="Rb28f06e6bad840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3783e2baaf41f2" /><Relationship Type="http://schemas.openxmlformats.org/officeDocument/2006/relationships/notesSlide" Target="/ppt/notesSlides/notesSlide4.xml" Id="Rb19f62dd8ffe45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6659b952934a39" /><Relationship Type="http://schemas.openxmlformats.org/officeDocument/2006/relationships/notesSlide" Target="/ppt/notesSlides/notesSlide5.xml" Id="Re0c38417933641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094974fcc2464b" /><Relationship Type="http://schemas.openxmlformats.org/officeDocument/2006/relationships/notesSlide" Target="/ppt/notesSlides/notesSlide6.xml" Id="R5fc792b8082442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FF13B1-EDA2-4977-AD68-0E7CC554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</a:defRPr>
            </a:pPr>
            <a:r>
              <a:rPr sz="4350" b="1">
                <a:solidFill>
                  <a:srgbClr val="111111"/>
                </a:solidFill>
              </a:rPr>
              <a:t>How We Work On Minfo V2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379930-B9F2-441E-A8DA-8D8EEF49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F646D"/>
                </a:solidFill>
              </a:defRPr>
            </a:pPr>
            <a:r>
              <a:rPr sz="1950" b="0">
                <a:solidFill>
                  <a:srgbClr val="5F646D"/>
                </a:solidFill>
              </a:rPr>
              <a:t>A simple operating process for Roland, Codex, Claude, developers, staging, and production.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550520-0F68-4C5B-A2E9-2031F34E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876300"/>
            <a:ext cx="2476500" cy="3238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222326"/>
          </a:solidFill>
          <a:ln xmlns:a="http://schemas.openxmlformats.org/drawingml/2006/main" w="9525">
            <a:solidFill>
              <a:srgbClr val="22232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B8BDBA-9926-4276-BD0D-10C8F590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573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Safe rule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BCE20B-FEC0-418B-8E3E-13BB7EFB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1809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Branches first.</a:t>
            </a:r>
          </a:p>
          <a:p xmlns:a="http://schemas.openxmlformats.org/drawingml/2006/main">
            <a:pPr algn="ctr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Commit often.</a:t>
            </a:r>
          </a:p>
          <a:p xmlns:a="http://schemas.openxmlformats.org/drawingml/2006/main">
            <a:pPr algn="ctr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Push before handoff.</a:t>
            </a:r>
          </a:p>
          <a:p xmlns:a="http://schemas.openxmlformats.org/drawingml/2006/main">
            <a:pPr algn="ctr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Staging before production.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92DB2A-2DB3-42AE-A387-B8C8BEE6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099"/>
                </a:solidFill>
              </a:defRPr>
            </a:pPr>
            <a:r>
              <a:rPr sz="975" b="0">
                <a:solidFill>
                  <a:srgbClr val="8A9099"/>
                </a:solidFill>
              </a:rPr>
              <a:t>Minfo V2 code workflow | 1</a:t>
            </a:r>
          </a:p>
        </p:txBody>
      </p:sp>
    </p:spTree>
    <p:extLst>
      <p:ext uri="{BB962C8B-B14F-4D97-AF65-F5344CB8AC3E}">
        <p14:creationId xmlns:p14="http://schemas.microsoft.com/office/powerpoint/2010/main" val="78763436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871F9B1-3212-4F2F-B0DF-A32D4184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Use The Same Words And The Same Route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ED0E42-666E-4271-9342-FEB6EBEA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9D32"/>
          </a:solidFill>
          <a:ln xmlns:a="http://schemas.openxmlformats.org/drawingml/2006/main" w="0">
            <a:solidFill>
              <a:srgbClr val="F99D3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177878-E677-430B-A91D-2B0AEC36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46D"/>
                </a:solidFill>
              </a:defRPr>
            </a:pPr>
            <a:r>
              <a:rPr sz="1500" b="0">
                <a:solidFill>
                  <a:srgbClr val="5F646D"/>
                </a:solidFill>
              </a:rPr>
              <a:t>The terms matter because they make handoffs and releases predictable.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8DBFFE-8083-48A0-A423-17E32D78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Local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20472F-B70E-4772-9727-C4290589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431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46D"/>
                </a:solidFill>
              </a:defRPr>
            </a:pPr>
            <a:r>
              <a:rPr sz="1575" b="0">
                <a:solidFill>
                  <a:srgbClr val="5F646D"/>
                </a:solidFill>
              </a:rPr>
              <a:t>The code folder on one laptop.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CA1FB2-7B94-4723-9A11-1DC96435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03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Branch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62D86D-3EFF-4D0D-BB0A-2EF62113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003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46D"/>
                </a:solidFill>
              </a:defRPr>
            </a:pPr>
            <a:r>
              <a:rPr sz="1575" b="0">
                <a:solidFill>
                  <a:srgbClr val="5F646D"/>
                </a:solidFill>
              </a:rPr>
              <a:t>A separate lane for one task.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A6AD9C-4060-468B-B3C9-1F7B2287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575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Commit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5D1B34-C0BC-4507-95A3-39F0C13F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575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46D"/>
                </a:solidFill>
              </a:defRPr>
            </a:pPr>
            <a:r>
              <a:rPr sz="1575" b="0">
                <a:solidFill>
                  <a:srgbClr val="5F646D"/>
                </a:solidFill>
              </a:rPr>
              <a:t>A saved checkpoint.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28CD7D-4AE8-4909-BD2E-A235B737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47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Push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CA1B2D-FF50-460F-9053-C483B86D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147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46D"/>
                </a:solidFill>
              </a:defRPr>
            </a:pPr>
            <a:r>
              <a:rPr sz="1575" b="0">
                <a:solidFill>
                  <a:srgbClr val="5F646D"/>
                </a:solidFill>
              </a:rPr>
              <a:t>Upload the checkpoint to GitHub.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C19D7E-7BC2-4321-B35F-EAB949E3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719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Staging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104944-832F-4C34-B522-571972EC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719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46D"/>
                </a:solidFill>
              </a:defRPr>
            </a:pPr>
            <a:r>
              <a:rPr sz="1575" b="0">
                <a:solidFill>
                  <a:srgbClr val="5F646D"/>
                </a:solidFill>
              </a:rPr>
              <a:t>Safe test version.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471D8A-B824-498A-9B23-1637F3A0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Production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502E4D-6172-41C0-B9A7-23B33BF0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291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46D"/>
                </a:solidFill>
              </a:defRPr>
            </a:pPr>
            <a:r>
              <a:rPr sz="1575" b="0">
                <a:solidFill>
                  <a:srgbClr val="5F646D"/>
                </a:solidFill>
              </a:rPr>
              <a:t>Live customer version.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D0C0BF-F2BE-4B1C-9720-3FC50578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76500"/>
            <a:ext cx="1238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20FAB5-81F1-40EE-9704-882FE53E1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813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Branch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CAB70D-68EE-4042-88F1-30E39441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7177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99D32"/>
                </a:solidFill>
              </a:defRPr>
            </a:pPr>
            <a:r>
              <a:rPr sz="1950" b="1">
                <a:solidFill>
                  <a:srgbClr val="F99D32"/>
                </a:solidFill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78D39D-5AA2-4CA1-B0A8-E07FC3BA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476500"/>
            <a:ext cx="1238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A64C9E-7320-4AD9-86AE-4AA41C42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7813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Commit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C94CFA-6D7F-4F73-9003-58C6E6F6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7177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99D32"/>
                </a:solidFill>
              </a:defRPr>
            </a:pPr>
            <a:r>
              <a:rPr sz="1950" b="1">
                <a:solidFill>
                  <a:srgbClr val="F99D32"/>
                </a:solidFill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D8AF13-9D7C-4CF7-8F9B-31A85EEE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76500"/>
            <a:ext cx="1238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1843F8-32B1-47D6-81E5-E64E8E7B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813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Push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1A4768-2FAB-4A47-84EB-B877970B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771775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99D32"/>
                </a:solidFill>
              </a:defRPr>
            </a:pPr>
            <a:r>
              <a:rPr sz="1950" b="1">
                <a:solidFill>
                  <a:srgbClr val="F99D32"/>
                </a:solidFill>
              </a:rPr>
              <a:t>&gt;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31A8C0-FC55-46B2-8C99-03E69C98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476500"/>
            <a:ext cx="1238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7B81EC-2102-4A9F-A015-091786DC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7813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Review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D7C534-945D-4CBD-9EEC-1B0F8CA3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905250"/>
            <a:ext cx="1428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E1C44C-CAC8-456D-8958-88049586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076700"/>
            <a:ext cx="1123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Staging</a:t>
            </a:r>
          </a:p>
          <a:p xmlns:a="http://schemas.openxmlformats.org/drawingml/2006/main">
            <a:pPr algn="ctr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test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493CAD-0C5B-44B5-AB86-28BDF077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20052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99D32"/>
                </a:solidFill>
              </a:defRPr>
            </a:pPr>
            <a:r>
              <a:rPr sz="1950" b="1">
                <a:solidFill>
                  <a:srgbClr val="F99D32"/>
                </a:solidFill>
              </a:rPr>
              <a:t>-&gt;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07586F-417D-4429-922E-637E8EF7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905250"/>
            <a:ext cx="1619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842788-CBB2-4FFA-ACB3-E9AFA960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407670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Production</a:t>
            </a:r>
          </a:p>
          <a:p xmlns:a="http://schemas.openxmlformats.org/drawingml/2006/main">
            <a:pPr algn="ctr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release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26BAB4-56F9-405B-A525-B5635322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340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326"/>
                </a:solidFill>
              </a:defRPr>
            </a:pPr>
            <a:r>
              <a:rPr sz="1800" b="1">
                <a:solidFill>
                  <a:srgbClr val="222326"/>
                </a:solidFill>
              </a:rPr>
              <a:t>Do not skip staging. Do not work directly on main.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962D10-3076-462C-BC6D-E6AD5D27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099"/>
                </a:solidFill>
              </a:defRPr>
            </a:pPr>
            <a:r>
              <a:rPr sz="975" b="0">
                <a:solidFill>
                  <a:srgbClr val="8A9099"/>
                </a:solidFill>
              </a:rPr>
              <a:t>Minfo V2 code workflow | 2</a:t>
            </a:r>
          </a:p>
        </p:txBody>
      </p:sp>
    </p:spTree>
    <p:extLst>
      <p:ext uri="{BB962C8B-B14F-4D97-AF65-F5344CB8AC3E}">
        <p14:creationId xmlns:p14="http://schemas.microsoft.com/office/powerpoint/2010/main" val="203211926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F3A5A6-EA44-47E1-80B1-7B518AB9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One Task Needs One Owner And One Handoff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55B991-A918-448D-B583-CD96D3EF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9D32"/>
          </a:solidFill>
          <a:ln xmlns:a="http://schemas.openxmlformats.org/drawingml/2006/main" w="0">
            <a:solidFill>
              <a:srgbClr val="F99D3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2130BB-57E6-4702-9E6F-A91E772D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46D"/>
                </a:solidFill>
              </a:defRPr>
            </a:pPr>
            <a:r>
              <a:rPr sz="1500" b="0">
                <a:solidFill>
                  <a:srgbClr val="5F646D"/>
                </a:solidFill>
              </a:rPr>
              <a:t>This prevents Codex, Claude, and developers from overwriting each other.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AF4D16-1FD6-45D0-9923-3D6FA189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38375"/>
            <a:ext cx="2905125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D3AC5-24A8-4D78-8291-A13EA512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409825"/>
            <a:ext cx="26003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Owner: Codex</a:t>
            </a:r>
          </a:p>
          <a:p xmlns:a="http://schemas.openxmlformats.org/drawingml/2006/main">
            <a:pPr algn="ctr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Branch: codex/task-name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C9CBDE-F080-48AD-95C0-63F2BAA3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238375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E5A84F-42CC-4717-94B9-C82DF390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409825"/>
            <a:ext cx="2076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Claude</a:t>
            </a:r>
          </a:p>
          <a:p xmlns:a="http://schemas.openxmlformats.org/drawingml/2006/main">
            <a:pPr algn="ctr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Read-only until handoff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C91B40-EA48-48CF-A7A0-D2B6C9D6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38375"/>
            <a:ext cx="23812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CCE066-4A12-42C3-88DD-EEF31A22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09825"/>
            <a:ext cx="2076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Developer</a:t>
            </a:r>
          </a:p>
          <a:p xmlns:a="http://schemas.openxmlformats.org/drawingml/2006/main">
            <a:pPr algn="ctr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Reviews after push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673614-1E95-44BA-B953-145278F7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143125"/>
            <a:ext cx="1952625" cy="285750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BFBFC"/>
          </a:solidFill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6F794F-1FBF-4FAC-80BE-79490BF7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812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Send this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09E10F-F21E-4CD7-BE7F-2E93226B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905125"/>
            <a:ext cx="152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- Repo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- Branch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- Commit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- Purpose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- Tests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- Paired API branch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74A5E6-4E2F-495C-BB2E-A6AA0A74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790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If two agents must work at the same time, use separate branches or separate worktrees.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71A641-EB3C-4EBF-B92F-E362CB1C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099"/>
                </a:solidFill>
              </a:defRPr>
            </a:pPr>
            <a:r>
              <a:rPr sz="975" b="0">
                <a:solidFill>
                  <a:srgbClr val="8A9099"/>
                </a:solidFill>
              </a:rPr>
              <a:t>Minfo V2 code workflow | 3</a:t>
            </a:r>
          </a:p>
        </p:txBody>
      </p:sp>
    </p:spTree>
    <p:extLst>
      <p:ext uri="{BB962C8B-B14F-4D97-AF65-F5344CB8AC3E}">
        <p14:creationId xmlns:p14="http://schemas.microsoft.com/office/powerpoint/2010/main" val="40712694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9391C7-8862-4240-97F4-3C702B69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Start Every AI Coding Task With A Safety Prompt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D24FA3-66CC-4694-A50E-39BCE88A5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9D32"/>
          </a:solidFill>
          <a:ln xmlns:a="http://schemas.openxmlformats.org/drawingml/2006/main" w="0">
            <a:solidFill>
              <a:srgbClr val="F99D3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C121FA-4A41-4D0E-985E-A717960B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46D"/>
                </a:solidFill>
              </a:defRPr>
            </a:pPr>
            <a:r>
              <a:rPr sz="1500" b="0">
                <a:solidFill>
                  <a:srgbClr val="5F646D"/>
                </a:solidFill>
              </a:rPr>
              <a:t>This is the easiest way to avoid lost work and confusing tests.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415EB6-4591-426D-9C50-CFAB92B9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66675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BFBFC"/>
          </a:solidFill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654A5F-93F4-4360-84C8-3F6A72AE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609600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326"/>
                </a:solidFill>
              </a:defRPr>
            </a:pPr>
            <a:r>
              <a:rPr sz="1650" b="0">
                <a:solidFill>
                  <a:srgbClr val="222326"/>
                </a:solidFill>
              </a:rPr>
              <a:t>Before changing anything:</a:t>
            </a:r>
          </a:p>
          <a:p xmlns:a="http://schemas.openxmlformats.org/drawingml/2006/main">
            <a:pPr algn="l">
              <a:defRPr sz="1650" b="0">
                <a:solidFill>
                  <a:srgbClr val="222326"/>
                </a:solidFill>
              </a:defRPr>
            </a:pPr>
            <a:r>
              <a:rPr sz="1650" b="0">
                <a:solidFill>
                  <a:srgbClr val="222326"/>
                </a:solidFill>
              </a:rPr>
              <a:t>1. Run git status.</a:t>
            </a:r>
          </a:p>
          <a:p xmlns:a="http://schemas.openxmlformats.org/drawingml/2006/main">
            <a:pPr algn="l">
              <a:defRPr sz="1650" b="0">
                <a:solidFill>
                  <a:srgbClr val="222326"/>
                </a:solidFill>
              </a:defRPr>
            </a:pPr>
            <a:r>
              <a:rPr sz="1650" b="0">
                <a:solidFill>
                  <a:srgbClr val="222326"/>
                </a:solidFill>
              </a:rPr>
              <a:t>2. Confirm repo, branch, and latest commit.</a:t>
            </a:r>
          </a:p>
          <a:p xmlns:a="http://schemas.openxmlformats.org/drawingml/2006/main">
            <a:pPr algn="l">
              <a:defRPr sz="1650" b="0">
                <a:solidFill>
                  <a:srgbClr val="222326"/>
                </a:solidFill>
              </a:defRPr>
            </a:pPr>
            <a:r>
              <a:rPr sz="1650" b="0">
                <a:solidFill>
                  <a:srgbClr val="222326"/>
                </a:solidFill>
              </a:rPr>
              <a:t>3. Tell me if there is uncommitted work.</a:t>
            </a:r>
          </a:p>
          <a:p xmlns:a="http://schemas.openxmlformats.org/drawingml/2006/main">
            <a:pPr algn="l">
              <a:defRPr sz="1650" b="0">
                <a:solidFill>
                  <a:srgbClr val="222326"/>
                </a:solidFill>
              </a:defRPr>
            </a:pPr>
            <a:r>
              <a:rPr sz="1650" b="0">
                <a:solidFill>
                  <a:srgbClr val="222326"/>
                </a:solidFill>
              </a:rPr>
              <a:t>4. If safe, create or use a task branch.</a:t>
            </a:r>
          </a:p>
          <a:p xmlns:a="http://schemas.openxmlformats.org/drawingml/2006/main">
            <a:pPr algn="l">
              <a:defRPr sz="1650" b="0">
                <a:solidFill>
                  <a:srgbClr val="222326"/>
                </a:solidFill>
              </a:defRPr>
            </a:pPr>
            <a:r>
              <a:rPr sz="1650" b="0">
                <a:solidFill>
                  <a:srgbClr val="222326"/>
                </a:solidFill>
              </a:rPr>
              <a:t>5. Do not touch main.</a:t>
            </a:r>
          </a:p>
          <a:p xmlns:a="http://schemas.openxmlformats.org/drawingml/2006/main">
            <a:pPr algn="l">
              <a:defRPr sz="1650" b="0">
                <a:solidFill>
                  <a:srgbClr val="222326"/>
                </a:solidFill>
              </a:defRPr>
            </a:pPr>
            <a:r>
              <a:rPr sz="1650" b="0">
                <a:solidFill>
                  <a:srgbClr val="222326"/>
                </a:solidFill>
              </a:rPr>
              <a:t>6. Do not overwrite other people's work.</a:t>
            </a:r>
          </a:p>
          <a:p xmlns:a="http://schemas.openxmlformats.org/drawingml/2006/main">
            <a:pPr algn="l">
              <a:defRPr sz="1650" b="0">
                <a:solidFill>
                  <a:srgbClr val="222326"/>
                </a:solidFill>
              </a:defRPr>
            </a:pPr>
            <a:r>
              <a:rPr sz="1650" b="0">
                <a:solidFill>
                  <a:srgbClr val="222326"/>
                </a:solidFill>
              </a:rPr>
              <a:t>7. Commit and push only this task when done.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DB4975-656B-4155-B5C0-0714E9D2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1431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2413A"/>
                </a:solidFill>
              </a:defRPr>
            </a:pPr>
            <a:r>
              <a:rPr sz="2100" b="1">
                <a:solidFill>
                  <a:srgbClr val="C2413A"/>
                </a:solidFill>
              </a:rPr>
              <a:t>Never do this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DB33C6-5BED-446E-9516-2E7FCFEE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762250"/>
            <a:ext cx="33337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2413A"/>
                </a:solidFill>
              </a:defRPr>
            </a:pPr>
            <a:r>
              <a:rPr sz="1500" b="0">
                <a:solidFill>
                  <a:srgbClr val="C2413A"/>
                </a:solidFill>
              </a:rPr>
              <a:t>- Work directly on main.</a:t>
            </a:r>
          </a:p>
          <a:p xmlns:a="http://schemas.openxmlformats.org/drawingml/2006/main">
            <a:pPr algn="l">
              <a:defRPr sz="1500" b="0">
                <a:solidFill>
                  <a:srgbClr val="C2413A"/>
                </a:solidFill>
              </a:defRPr>
            </a:pPr>
            <a:r>
              <a:rPr sz="1500" b="0">
                <a:solidFill>
                  <a:srgbClr val="C2413A"/>
                </a:solidFill>
              </a:rPr>
              <a:t>- Switch branches with uncommitted work.</a:t>
            </a:r>
          </a:p>
          <a:p xmlns:a="http://schemas.openxmlformats.org/drawingml/2006/main">
            <a:pPr algn="l">
              <a:defRPr sz="1500" b="0">
                <a:solidFill>
                  <a:srgbClr val="C2413A"/>
                </a:solidFill>
              </a:defRPr>
            </a:pPr>
            <a:r>
              <a:rPr sz="1500" b="0">
                <a:solidFill>
                  <a:srgbClr val="C2413A"/>
                </a:solidFill>
              </a:rPr>
              <a:t>- Let two agents edit one folder.</a:t>
            </a:r>
          </a:p>
          <a:p xmlns:a="http://schemas.openxmlformats.org/drawingml/2006/main">
            <a:pPr algn="l">
              <a:defRPr sz="1500" b="0">
                <a:solidFill>
                  <a:srgbClr val="C2413A"/>
                </a:solidFill>
              </a:defRPr>
            </a:pPr>
            <a:r>
              <a:rPr sz="1500" b="0">
                <a:solidFill>
                  <a:srgbClr val="C2413A"/>
                </a:solidFill>
              </a:rPr>
              <a:t>- Deploy without staging.</a:t>
            </a:r>
          </a:p>
          <a:p xmlns:a="http://schemas.openxmlformats.org/drawingml/2006/main">
            <a:pPr algn="l">
              <a:defRPr sz="1500" b="0">
                <a:solidFill>
                  <a:srgbClr val="C2413A"/>
                </a:solidFill>
              </a:defRPr>
            </a:pPr>
            <a:r>
              <a:rPr sz="1500" b="0">
                <a:solidFill>
                  <a:srgbClr val="C2413A"/>
                </a:solidFill>
              </a:rPr>
              <a:t>- Paste secrets into chats or commits.</a:t>
            </a:r>
          </a:p>
          <a:p xmlns:a="http://schemas.openxmlformats.org/drawingml/2006/main">
            <a:pPr algn="l">
              <a:defRPr sz="1500" b="0">
                <a:solidFill>
                  <a:srgbClr val="C2413A"/>
                </a:solidFill>
              </a:defRPr>
            </a:pPr>
            <a:r>
              <a:rPr sz="1500" b="0">
                <a:solidFill>
                  <a:srgbClr val="C2413A"/>
                </a:solidFill>
              </a:rPr>
              <a:t>- Test new web against old API.</a:t>
            </a:r>
          </a:p>
          <a:p xmlns:a="http://schemas.openxmlformats.org/drawingml/2006/main">
            <a:pPr algn="l">
              <a:defRPr sz="1500" b="0">
                <a:solidFill>
                  <a:srgbClr val="C2413A"/>
                </a:solidFill>
              </a:defRPr>
            </a:pPr>
            <a:r>
              <a:rPr sz="1500" b="0">
                <a:solidFill>
                  <a:srgbClr val="C2413A"/>
                </a:solidFill>
              </a:rPr>
              <a:t>- Delete old folders before work is pushed.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160FC1-4941-4542-A529-15488660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099"/>
                </a:solidFill>
              </a:defRPr>
            </a:pPr>
            <a:r>
              <a:rPr sz="975" b="0">
                <a:solidFill>
                  <a:srgbClr val="8A9099"/>
                </a:solidFill>
              </a:rPr>
              <a:t>Minfo V2 code workflow | 4</a:t>
            </a:r>
          </a:p>
        </p:txBody>
      </p:sp>
    </p:spTree>
    <p:extLst>
      <p:ext uri="{BB962C8B-B14F-4D97-AF65-F5344CB8AC3E}">
        <p14:creationId xmlns:p14="http://schemas.microsoft.com/office/powerpoint/2010/main" val="67509569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20FE16-A115-4FB2-933B-FCAEF5D2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Frontend And Backend Must Be Tested As A Pair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18DC23-C6BC-4086-8C0F-4D0F0407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9D32"/>
          </a:solidFill>
          <a:ln xmlns:a="http://schemas.openxmlformats.org/drawingml/2006/main" w="0">
            <a:solidFill>
              <a:srgbClr val="F99D3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541498-057D-4025-A586-FD7565E5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46D"/>
                </a:solidFill>
              </a:defRPr>
            </a:pPr>
            <a:r>
              <a:rPr sz="1500" b="0">
                <a:solidFill>
                  <a:srgbClr val="5F646D"/>
                </a:solidFill>
              </a:rPr>
              <a:t>A new screen can fail if it talks to an old API.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4C971D-32AE-4B4A-BCA3-951D4764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2860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30CAC8-12A3-44BE-B80C-487B2D23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05075"/>
            <a:ext cx="19812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Web branch</a:t>
            </a:r>
          </a:p>
          <a:p xmlns:a="http://schemas.openxmlformats.org/drawingml/2006/main">
            <a:pPr algn="ctr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expects new field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F0BD4C-F704-4FD8-B875-355F207F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860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99D32"/>
                </a:solidFill>
              </a:defRPr>
            </a:pPr>
            <a:r>
              <a:rPr sz="3000" b="1">
                <a:solidFill>
                  <a:srgbClr val="F99D32"/>
                </a:solidFill>
              </a:rPr>
              <a:t>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B60E95-A249-4709-85F0-85504A64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33625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105810-CF40-46D3-B88A-C96CD66D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505075"/>
            <a:ext cx="20764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Backend branch</a:t>
            </a:r>
          </a:p>
          <a:p xmlns:a="http://schemas.openxmlformats.org/drawingml/2006/main">
            <a:pPr algn="ctr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returns new field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B757C4-E4DF-465F-862F-C1D0C22B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86050"/>
            <a:ext cx="419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99D32"/>
                </a:solidFill>
              </a:defRPr>
            </a:pPr>
            <a:r>
              <a:rPr sz="3000" b="1">
                <a:solidFill>
                  <a:srgbClr val="F99D32"/>
                </a:solidFill>
              </a:rPr>
              <a:t>=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3E03F2-05F0-4037-A296-18A57060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33625"/>
            <a:ext cx="214312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D8ED3A-6B92-4F51-95D5-042C5713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05075"/>
            <a:ext cx="18383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Test together</a:t>
            </a:r>
          </a:p>
          <a:p xmlns:a="http://schemas.openxmlformats.org/drawingml/2006/main">
            <a:pPr algn="ctr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or results lie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4A938A-9441-408F-A630-69487C31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771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Example: onboarding image cards require the web branch and the API branch together.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DF4E6C-10B0-4A41-9152-B930ED4B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Release route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0E5CAE-B19D-4C76-887D-724E802F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176212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1DF"/>
          </a:solidFill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4599FC-734F-4EC9-A79A-96D24EC5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62575"/>
            <a:ext cx="1533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Branch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65F94C-AFB1-4BF0-AF7F-88B037B0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054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99D32"/>
                </a:solidFill>
              </a:defRPr>
            </a:pPr>
            <a:r>
              <a:rPr sz="1650" b="1">
                <a:solidFill>
                  <a:srgbClr val="F99D32"/>
                </a:solidFill>
              </a:rPr>
              <a:t>-&gt;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260C50-C3D8-49CA-B450-6A40B3FF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219700"/>
            <a:ext cx="176212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1683C0-017B-4E46-A3D8-3654165A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5362575"/>
            <a:ext cx="1533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Commit + push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041677-996B-4D0F-B66D-59377CE8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3054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99D32"/>
                </a:solidFill>
              </a:defRPr>
            </a:pPr>
            <a:r>
              <a:rPr sz="1650" b="1">
                <a:solidFill>
                  <a:srgbClr val="F99D32"/>
                </a:solidFill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12D0C9-E397-4F32-9D4E-24E31571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219700"/>
            <a:ext cx="176212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8DC669-21AD-4DE5-A00E-17AD2479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62575"/>
            <a:ext cx="1533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Merge to staging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832F94-390F-41FF-A22E-65D813F2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3054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99D32"/>
                </a:solidFill>
              </a:defRPr>
            </a:pPr>
            <a:r>
              <a:rPr sz="1650" b="1">
                <a:solidFill>
                  <a:srgbClr val="F99D32"/>
                </a:solidFill>
              </a:rPr>
              <a:t>-&gt;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0312ED-38F3-4577-BD7D-33471842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5219700"/>
            <a:ext cx="176212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0C3627-2453-44C7-A51D-6B3081D21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362575"/>
            <a:ext cx="1533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Roland tests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CBD9C7-B703-49A7-8E03-48D0F5F5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5305425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99D32"/>
                </a:solidFill>
              </a:defRPr>
            </a:pPr>
            <a:r>
              <a:rPr sz="1650" b="1">
                <a:solidFill>
                  <a:srgbClr val="F99D32"/>
                </a:solidFill>
              </a:rPr>
              <a:t>-&gt;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184053-BC41-4A94-8533-632C01CA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219700"/>
            <a:ext cx="176212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9CED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B04550-AEB4-4C1A-B7C4-3A8610F4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362575"/>
            <a:ext cx="1533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Approve production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8E9A2F-77A0-4D56-B574-D4440586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099"/>
                </a:solidFill>
              </a:defRPr>
            </a:pPr>
            <a:r>
              <a:rPr sz="975" b="0">
                <a:solidFill>
                  <a:srgbClr val="8A9099"/>
                </a:solidFill>
              </a:rPr>
              <a:t>Minfo V2 code workflow | 5</a:t>
            </a:r>
          </a:p>
        </p:txBody>
      </p:sp>
    </p:spTree>
    <p:extLst>
      <p:ext uri="{BB962C8B-B14F-4D97-AF65-F5344CB8AC3E}">
        <p14:creationId xmlns:p14="http://schemas.microsoft.com/office/powerpoint/2010/main" val="91070925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8C67CB-67DE-44C6-93A1-63EFBFB2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The Simple Operating Rule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2B171B-383F-4C9D-8F2F-B04F7AEF0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9D32"/>
          </a:solidFill>
          <a:ln xmlns:a="http://schemas.openxmlformats.org/drawingml/2006/main" w="0">
            <a:solidFill>
              <a:srgbClr val="F99D3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46DBE2-9082-4240-8437-3AC31E17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46D"/>
                </a:solidFill>
              </a:defRPr>
            </a:pPr>
            <a:r>
              <a:rPr sz="1500" b="0">
                <a:solidFill>
                  <a:srgbClr val="5F646D"/>
                </a:solidFill>
              </a:rPr>
              <a:t>This is the whole process in one sentence.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4B0592-058B-4A1C-B5A0-327258F5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33625"/>
            <a:ext cx="952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11111"/>
                </a:solidFill>
              </a:defRPr>
            </a:pPr>
            <a:r>
              <a:rPr sz="3450" b="1">
                <a:solidFill>
                  <a:srgbClr val="111111"/>
                </a:solidFill>
              </a:rPr>
              <a:t>Create safe branches and checkpoints locally.</a:t>
            </a:r>
          </a:p>
          <a:p xmlns:a="http://schemas.openxmlformats.org/drawingml/2006/main">
            <a:pPr algn="ctr">
              <a:defRPr sz="3450" b="1">
                <a:solidFill>
                  <a:srgbClr val="111111"/>
                </a:solidFill>
              </a:defRPr>
            </a:pPr>
            <a:r>
              <a:rPr sz="3450" b="1">
                <a:solidFill>
                  <a:srgbClr val="111111"/>
                </a:solidFill>
              </a:rPr>
              <a:t>Let developers merge and release.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26C0AD-65D6-4B86-B614-1A6C13B1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43375"/>
            <a:ext cx="819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5F646D"/>
                </a:solidFill>
              </a:defRPr>
            </a:pPr>
            <a:r>
              <a:rPr sz="1950" b="0">
                <a:solidFill>
                  <a:srgbClr val="5F646D"/>
                </a:solidFill>
              </a:rPr>
              <a:t>That keeps vibe-coding creative while keeping staging and production controlled.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4B72F4-A883-42C1-B0F3-7F01EBEA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099"/>
                </a:solidFill>
              </a:defRPr>
            </a:pPr>
            <a:r>
              <a:rPr sz="975" b="0">
                <a:solidFill>
                  <a:srgbClr val="8A9099"/>
                </a:solidFill>
              </a:rPr>
              <a:t>Minfo V2 code workflow | 6</a:t>
            </a:r>
          </a:p>
        </p:txBody>
      </p:sp>
    </p:spTree>
    <p:extLst>
      <p:ext uri="{BB962C8B-B14F-4D97-AF65-F5344CB8AC3E}">
        <p14:creationId xmlns:p14="http://schemas.microsoft.com/office/powerpoint/2010/main" val="16724989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2026-08-14T05:22:48.7230000Z</dcterms:created>
  <dcterms:modified xsi:type="dcterms:W3CDTF">2026-08-14T05:22:48.7350000Z</dcterms:modified>
</coreProperties>
</file>